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INFOTACT SOLUTIONS — FORMAL INTERNSHIP CAPSTONE</a:t>
            </a:r>
          </a:p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EconoCausal: Prescriptive Dynamic Pricing</a:t>
            </a:r>
          </a:p>
          <a:p>
            <a:pPr>
              <a:spcAft>
                <a:spcPts val="3000"/>
              </a:spcAft>
              <a:defRPr sz="1600">
                <a:solidFill>
                  <a:srgbClr val="38BDF8"/>
                </a:solidFill>
                <a:latin typeface="Segoe UI"/>
              </a:defRPr>
            </a:pPr>
            <a:r>
              <a:t>Heterogeneous Treatment Effect Estimation &amp; Constrained Budget Optimization via Double Machine Learning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Candidate: Vishal Yadav | Data Associate L1. Intern (Data Science &amp; ML)</a:t>
            </a:r>
            <a:br/>
            <a:r>
              <a:t>Host Organization: Infotact Solutions (Electronic City, Bengaluru) | Date: October 2026</a:t>
            </a:r>
            <a:br/>
            <a:r>
              <a:t>Supervisor: Ms. Jyotirmayee Behera (HR Manager) | Standard: ISO 9001:2015 Approved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Observational Pricing Fallacy &amp; Confounding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18CF8"/>
                </a:solidFill>
                <a:latin typeface="Segoe UI"/>
              </a:defRPr>
            </a:pPr>
            <a:r>
              <a:t>1. Massive Marketing Outlay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Retailers spend 15% to 30% of gross margin on coupons, discounts, and retention offers.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Promotional spending is frequently wasted on shoppers who would have purchased anyway at full price.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Lack of causal targeting leads to millions in revenue cannibalization.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2. The Predictive ML Mistake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Traditional supervised models predict P(Purchase | Features, Discount).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Because VIP/loyal shoppers historically buy more AND get more coupons, standard ML confuses correlation with causation.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Standard ML recommends the biggest discounts to the most loyal shoppers ('Deadweight Loss').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The Causal AI Solution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EconoCausal formulates dynamic pricing as a Counterfactual Decision Problem.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Double Machine Learning (DML) eliminates high-dimensional confounders using Neyman orthogonal residuals.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Directly predicts Individual Treatment Effects (CATE / τ̂_i) to isolate true 'Persuadables'.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Four Modular Pillars (Infotact Solutions Syllabus)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Module 1: Causal Graphing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Microsoft DoWhy DAG formulation.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9 observed confounders (W).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Identification via Backdoor Criterion.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Strict anti-leakage isolation of ground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Module 2: Double ML Engine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EconML LinearDML architecture.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LightGBM Regressor &amp; Classifier.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5-Fold Cross-Fitting.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CATE elasticity predictions (tau_hat_10, tau_hat_20).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Module 3: SciPy MILP Solver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HiGHS Mixed-Integer LP solver.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Multiple-Choice Knapsack problem.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Strict ₹50,000 budget cap.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Nominal vs Expected Redeemed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Module 4: Full-Stack App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FastAPI REST microservice.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React 19 + Plotly interactive charts.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Qini Curve &amp; Uplift visualization.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Automated Data Drift Monitoring (PSI).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Cohort Architecture &amp; Pre-treatment Covariates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10,000 Customer Benchmark Cohort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Sample Size: N = 10,000 unique customer profiles.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Pre-treatment Features: 9 verified covariates observed prior to discount assignment: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Age (18-70 years) &amp; Monthly Income (₹15k - ₹1.2L)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Web Visits in last 30d &amp; Days Since Last Purchase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Past Purchases Count &amp; Baseline Cart Value (₹120 - ₹1,850)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Loyalty Club Member &amp; Device Channels (Mobile App / Tablet)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Confounding Bias: High-income &amp; loyalty customers historically had 2.4x higher probability of discount assignment.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Strict Anti-Leakage Safeguards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Clean Separation: Model features contain strictly observable covariates (X, T, Y).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Post-Treatment Control: 'discount_depth_ratio' is verified as post-treatment and excluded from pre-treatment confounders.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Counterfactual Isolation: True potential outcomes Y(0), Y(10), Y(20) are isolated in ground_truth_eval.csv.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Automated Safeguards: Optimizer and API block execution if any column starting with 'true_' is detected.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Double Machine Learning (EconML LinearDML)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Neyman Orthogonalization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Stage 1 Nuisance Outcome Model: E[Y | W]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LightGBM Regressor (n_estimators=100, max_depth=5, lr=0.05)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Stage 1 Nuisance Treatment Model: E[T | W]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LightGBM Multi-class Classifier (n_estimators=100, max_depth=4)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Cross-Fitting: 5-Fold cross-fitting to avoid overfitting bias.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Stage 2 CATE Estimator: Linear interaction model on centered residuals: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Y_tilde = Y - E[Y | W]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T_tilde = T - E[T | W]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Y_tilde = tau(X) * T_tilde + epsilon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CATE Elasticity Findings (N=10,000)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₹10 Promotional Offer (T1 vs T0):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Mean CATE uplift: +8.31% (tau = +0.0831)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Standard deviation: 0.0512 | Range: +1.9% to +15.6%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₹20 Promotional Offer (T2 vs T0):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Mean CATE uplift: +14.72% (tau = +0.1472)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Standard deviation: 0.0789 | Range: +3.1% to +25.8%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Core Finding: Individual customer price elasticity varies by &gt;10x across shoppers. Blanket discounting treats everyone identically and wastes capital.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Causal Refutation Suite: Empirical Falsification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1. Placebo Test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Permutes treatment randomly across customers.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Causal effect collapsed from +14.22% to +0.04%.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 = 0.485 (&gt; 0.05).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VERIFIED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2. Confounder Injection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Injects random standard normal noise feature.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CATE estimate shifted by only 0.16%.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Tolerance: &lt; 5.0% drift.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VERIFIED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Data Subset Stability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Re-estimates across 10 random 80% bootstrap sub-samples.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Sub-sample shift: 0.03%.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Tolerance: &lt; 6.0% drift.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VERIFIED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4. Positivity Trimming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Trims extreme propensity tails (&lt; 0.05 and &gt; 0.95).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Effect shift: 0.17%.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Common support holds.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VERIFIED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Propensity Score Matching &amp; Love Plot Balance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1:1 Caliper Matching Diagnostics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Matching Algorithm: 1:1 Nearest-Neighbor Caliper Matching on the propensity logit.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Caliper: epsilon = 0.20 * SD(logit(e)).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Match Rate for ₹10 Offer: 95.87% (2,273 matched pairs / 2,371 treated).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Match Rate for ₹20 Offer: 97.07% (2,088 matched pairs / 2,151 treated).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Industry Gold Standard Rule: All post-matching covariates must satisfy |SMD| &lt; 0.10.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Post-Matching Covariate Balance (|SMD| &lt; 0.10)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loyalty_member: Raw SMD = +0.3842  --&gt;  Matched SMD = +0.0184 (95.2% bias reduction)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cart_baseline_value: Raw = +0.2845  --&gt;  Matched = +0.0163 (94.3% bias reduction)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past_purchases: Raw = +0.2984  --&gt;  Matched = -0.0142 (95.2% bias reduction)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days_since_last: Raw = -0.2140  --&gt;  Matched = -0.0098 (95.4% bias reduction)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monthly_income: Raw = +0.1982  --&gt;  Matched = +0.0121 (93.9% bias reduction)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web_visits: Raw = +0.1840  --&gt;  Matched = -0.0075 (95.9% bias reduction)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All 9 covariates successfully balanced within [-0.015, +0.019].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Prescriptive Budget Optimization: HiGHS MILP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Objective: Maximize total net incremental profit across cohort: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max sum_i (w_{i,10} * v_{i,10} + w_{i,20} * v_{i,20})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Where economic incremental value v_{i,d} is: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v_{i,d} = tau_{i,d} * (m * Cart_i - d) - p_{0,i} * 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tau_{i,d} * (m * Cart_i - d): margin on incremental orders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p_{0,i} * d: discount subsidy lost on organic buyers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Budget Constraint: sum_i (w_{i,10} * c_{i,10} + w_{i,20} * c_{i,20}) &lt;= B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Mutual Exclusivity: w_{i,10} + w_{i,20} &lt;= 1 for all customers 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Solver Architecture &amp; Reliability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Primary Engine: scipy.optimize.milp utilizing the HiGHS simplex/interior-point solver.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Dual Budget Liability Modes: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Nominal Face Value: sum(d * w) &lt;= B (Maximum financial exposure)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Expected Redeemed: sum(d * (p0 + tau) * w) &lt;= B (Expected cash outflow)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Robust Fallback Architecture: If MILP status indicates infeasibility, the system automatically falls back to Greedy Marginal Return on Spend.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Deterministic Parity: Greedy solver achieves &gt;98% objective parity with exact MILP.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Prescriptive Allocation Results vs. Industry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Quantitative Benchmark Performance (₹50,000 Budget Cap)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1. DML MILP Optimal Policy (EconoCausal):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Budget Spent: ₹50,000.00 | Expected Redeemed Cost: ₹28,511.16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Targeted Customers: 4,568 (45.68%) | Control Arm: 5,432 (54.32%)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Incremental Purchases: +829.88 transactions | Incremental Profit: ₹3,76,115.07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Return on Spend (RODS): 7.52x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2. Random Allocation Baseline (5,000 customers randomly assigned ₹10):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Incremental Profit: ₹2,14,350.00 | RODS: 4.29x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3. High Cart-Value Baseline (5,000 highest cart shoppers assigned ₹10):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Incremental Profit: ₹2,92,800.00 | RODS: 5.86x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Financial Advantage of Causal AI: Generates +₹1,61,765.07 in net incremental profit (+75.5% financial gain) compared to random promotional campaigns under the exact same ₹50,000 budget.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Visualizing Causal Targeting: The Qini Curve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Qini Curve Methodology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The Qini curve plots cumulative incremental purchases as an increasing fraction of the customer cohort is targeted.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Causal DML Ranking (Solid Green Line): Customers sorted descending by predicted CATE uplift (tau_hat_i).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Random Baseline (Grey Dashed Line): Expected incremental purchases under random customer selection.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The area between the Causal DML curve and the random diagonal is the Qini Metric (Efficiency Gain).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Empirical Proof of Outperformance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At 20% Rollout: Causal DML achieves 222.8 incremental orders vs 166.0 random (+34.2% lift).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At 50% Rollout: Causal DML achieves 488.6 incremental orders vs 383.1 random (+27.5% lift).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Total Uplift Achieved: +829.88 orders concentrated on 4,568 customers.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Business Takeaway: The steep initial slope mathematically proves that CATE ranking captures the majority of responsive buyers within the first 50% of discount spend.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Automated Data Drift Detection &amp; Continuous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Population Stability Index (PSI) Protocol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Monitors incoming production customer features against baseline training data.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Standard Industry Risk Tiers: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PSI &lt; 0.10: Stable (No action required)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- 0.10 &lt;= PSI &lt;= 0.25: Moderate shift (Log warning telemetry)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- PSI &gt; 0.25: Significant drift (Trigger automated model retraining alert)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Two-Sample Kolmogorov-Smirnov (KS) test for continuous distributions.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Audit Results across All 9 Covariates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monthly_income_inr: PSI = 0.0120 | KS p = 0.845 (Stable)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cart_baseline_value: PSI = 0.0150 | KS p = 0.782 (Stable)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web_visits_last_30d: PSI = 0.0090 | KS p = 0.912 (Stable)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past_purchases_count: PSI = 0.0110 | KS p = 0.865 (Stable)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days_since_last_purchase: PSI = 0.0140 | KS p = 0.798 (Stable)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• loyalty_member: PSI = 0.0060 | KS p = 0.975 (Stable)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Overall Status: STABLE (Max PSI = 0.0180 &lt; 0.10). Passed quality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FastAPI Microservice Architecture &amp; Security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REST API Endpoints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/api/health: Service and artifact verification status.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/api/summary: KPI scorecards, baselines, and natural language summary.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/api/charts: Pre-aggregated Plotly data including Qini curve.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/api/recommendations: Paginated, searchable, sortable customer allocation table.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POST /api/simulate: Real-time dynamic budget &amp; margin optimization engine.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/api/validation: PSM balance metrics, Love plot data, and refutations.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/api/causal/dag: Microsoft DoWhy DAG nodes, edges, and theorems.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GET /api/drift/status: Automated customer behavior drift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18CF8"/>
                </a:solidFill>
                <a:latin typeface="Segoe UI"/>
              </a:defRPr>
            </a:pPr>
            <a:r>
              <a:t>Security &amp; Anti-Leakage Controls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Explicit CORS Configuration: Replaced insecure wildcard credentials with explicitly configured trusted origins (localhost:5173, 5174, 3000).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Strict Anti-Leakage Gateway: Operational endpoints completely block access to columns starting with 'true_'.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Pydantic Validation: Strict boundary checks on budget (₹1k-₹500k) and margin (5%-90%).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Performance: In-memory artifact caching provides sub-50ms response latency.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Executive Dashboard: React 19 + Plotly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Overview &amp; KPIs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Top scorecards: Cohort Size, Budget, Spend, Incremental Orders, Net Profit, RODS.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Dynamic natural language executive summary.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Clear distinction between Nominal liability and Expected redeemed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Interactive Visualizations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Plotly Donut of offer distribution.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Policy benchmark comparison bars.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Demographic segment elasticity charts.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Interactive Qini &amp; Cumulative Uplift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Dark &amp; Light Design System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Full theme persistence via localStorage.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Theme-aware Plotly charts matching CSS custom properties.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Accessible contrast meeting WCAG standards.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Responsive sidebar navigation shell.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Comprehensive Quality Assurance &amp; Automated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39 Automated Tests Across 5 Test Suites — 100%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1. 02_Causal_ML/test_dml.py: 4 tests | 100% PASS (55s)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Verifies DML cross-fitting, LightGBM base estimators, CATE estimation bounds, and schema.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2. 03_Backend_Optimization/test_optimizer.py: 12 tests | 100% PASS (26s)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Verifies budget caps, anti-leakage guards, zero budget, mutual exclusivity, deterministic MILP vs exhaustive search parity, and solver fallback.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3. 03_Backend_Optimization/test_validation.py: 5 tests | 100% PASS (5s)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Verifies PSM caliper match rate (&gt;95%), covariate balance (|SMD| &lt; 0.10 for all 9 features), and 4 causal refutation criteria.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4. 04_Frontend_Dashboard/backend/test_api.py: 17 tests | 100% PASS (7s)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Verifies all endpoints, schemas, pagination, filters, live simulation, Qini data, and CORS trusted origins.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5. 04_Frontend_Dashboard (npm run build): Production Vite Build | 100% PASS (543ms)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Scientific Disclosures, Assumptions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Key Econometric Assumptions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1. Unconfoundedness (Conditional Independence):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Assumes no unmeasured confounders simultaneously influence discount assignment and purchasing.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Supported by covariate balance and refutation invariance.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2. Positivity / Common Support: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Verified: 95.9% of units have non-zero probability of receiving treatment.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3. SUTVA (Stable Unit Treatment Value):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  - Assumes one customer's coupon does not alter a peer's purchase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Limitations &amp; Deployment Recommendations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Simulated Benchmark Context: Metrics are derived from mathematically controlled synthetic retail environments. Real-world returns will vary based on brand equity and market seasonality.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Observational Limitations: While refutation tests pass, observational data cannot conclusively rule out unobserved confounding without randomized A/B experimentation.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Deployment Roadmap: Recommend a staggered 10% A/B rollout in production before fully scaling automated discount allocations.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Strategic Business Impact for Enterprise Retail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1. Profit Expansion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+₹1,61,765 incremental profit on a ₹50k campaign.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+75.5% financial gain over random discounting.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7.52x Return on Discount Spend.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18CF8"/>
                </a:solidFill>
                <a:latin typeface="Segoe UI"/>
              </a:defRPr>
            </a:pPr>
            <a:r>
              <a:t>2. Capital Discipline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Completely eliminates deadweight subsidies on 5,432 organic shoppers.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Strict budget ceiling guarantee prevents campaign overruns.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Dual nominal vs redeemed liability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Enterprise Ready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Sub-50ms REST microservice.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Interactive simulation workspace.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Continuous customer behavior drift monitoring.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Validated across 39 automated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INFOTACT SOLUTIONS | DSML INTERNSHIP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Evaluator Demonstration &amp; Viva Walkthrough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Step-by-Step Live Demo Protocol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1. Startup: Launch FastAPI backend (port 8000) &amp; Vite frontend (port 5173/5174).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2. Overview Tour: Highlight the 6 top KPIs, ₹3.76L profit, and 7.52x ROAS.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3. Dataset Explorer: Inspect pre-treatment covariates and demonstrate anti-leakage isolation.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4. Causal Insights: Display Qini curve demonstrating +27.5% outperformance at 50% rollout.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5. Prescriptive Simulator: Change budget from ₹50,000 to ₹75,000 and run live MILP optimization.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6. Recommendations: Search customer 'CUST_000042', inspect CATE elasticity, and explain why discount was assigned.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7. Validation Audit: Review Love Plot balance, 4 refutation tests, DoWhy DAG, and Drift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Viva Defense &amp; Key Talking Points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Q: Why use Causal AI instead of predicting conversion?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A: 'Standard ML recommends discounts to loyal shoppers who would buy anyway. Causal DML isolates the true incremental lift (CATE), targeting only price-sensitive fence-sitters.'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Q: How do you prove unconfoundedness?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A: 'We verified covariate balance across all 9 confounders (|SMD| &lt; 0.022) and passed all 4 gold-standard refutations including Placebo tests (p=0.485).'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Q: What is the solver algorithm?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A: 'SciPy HiGHS Mixed-Integer LP solving a Multiple-Choice Knapsack problem under budget caps.'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CONCLUSION &amp; SUBMISSION READINESS</a:t>
            </a:r>
          </a:p>
          <a:p>
            <a:pPr>
              <a:spcAft>
                <a:spcPts val="2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EconoCausal Capstone Completed &amp; Submission Ready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Successfully bridged advanced Causal AI (EconML, DoWhy) with Prescriptive Operations Research (SciPy HiGHS MILP).</a:t>
            </a:r>
            <a:br/>
            <a:r>
              <a:t>• Delivered complete full-stack enterprise dashboard, automated test suites (39/39 passing), and verified evaluation benchmarks.</a:t>
            </a:r>
            <a:br/>
            <a:r>
              <a:t>• All formal deliverables (DOCX Report, PDF Report, PPTX Deck, Excel Evaluation Workbook, Markdown Companions, and Audit Reports) generated and certified.</a:t>
            </a:r>
            <a:br/>
            <a:br/>
            <a:r>
              <a:t>Sincere gratitude to Infotact Solutions, my project mentor, and Ms. Jyotirmayee Behera for guidance throughout this internship.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